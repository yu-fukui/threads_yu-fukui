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・概要" id="{c1ae0eed-af54-3522-2bf3-cf4d466f6c7b}">
          <p14:sldIdLst>
            <p14:sldId id="256"/>
            <p14:sldId id="257"/>
          </p14:sldIdLst>
        </p14:section>
        <p14:section name="城下町マルシェ" id="{a1cce80c-a36c-3563-b8d9-5c670e1e9422}">
          <p14:sldIdLst>
            <p14:sldId id="258"/>
            <p14:sldId id="259"/>
          </p14:sldIdLst>
        </p14:section>
        <p14:section name="アンテナショップ" id="{ad557917-1b43-7c1e-14c1-e5398d9471ca}">
          <p14:sldIdLst>
            <p14:sldId id="260"/>
          </p14:sldIdLst>
        </p14:section>
        <p14:section name="周辺情報" id="{e159ccba-c6de-b552-11a0-3de4bf7f6db1}">
          <p14:sldIdLst>
            <p14:sldId id="261"/>
            <p14:sldId id="262"/>
          </p14:sldIdLst>
        </p14:section>
        <p14:section name="店舗情報・次のステップ" id="{757bf091-e81f-ff00-771c-74ca97f5d426}">
          <p14:sldIdLst>
            <p14:sldId id="263"/>
            <p14:sldId id="264"/>
          </p14:sldIdLst>
        </p14:section>
        <p14:section name="付録" id="{5688ac5f-889d-fb18-99dd-34be9d512df7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写真：Tomio344456 / Wikimedia Commons（CC BY-SA 4.0）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写真：戸越銀座 Kentin / Wikimedia Commons（CC BY-SA 3.0）／ マルシェ 株式会社ウララコミュニケーションズ（PR TIMES）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1200" y="711200"/>
            <a:ext cx="107696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711200" y="1422400"/>
            <a:ext cx="10769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38800" y="711200"/>
            <a:ext cx="59436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5638800" y="1422400"/>
            <a:ext cx="5943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R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1200" y="711200"/>
            <a:ext cx="56388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711200" y="1422400"/>
            <a:ext cx="5638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1"/>
          <p:cNvSpPr/>
          <p:nvPr/>
        </p:nvSpPr>
        <p:spPr>
          <a:xfrm>
            <a:off x="711200" y="711200"/>
            <a:ext cx="5080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" name="text-2"/>
          <p:cNvSpPr txBox="1"/>
          <p:nvPr/>
        </p:nvSpPr>
        <p:spPr>
          <a:xfrm>
            <a:off x="711200" y="12573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711200" y="1600200"/>
            <a:ext cx="558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5000" b="1" dirty="0">
                <a:solidFill>
                  <a:schemeClr val="tx1"/>
                </a:solidFill>
              </a:rPr>
              <a:t>坂井市ゆかりの</a:t>
            </a:r>
            <a:endParaRPr lang="en-US" sz="5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5000" b="1" dirty="0">
                <a:solidFill>
                  <a:schemeClr val="tx1"/>
                </a:solidFill>
              </a:rPr>
              <a:t>2店舗のご紹介</a:t>
            </a:r>
            <a:endParaRPr lang="en-US" sz="5000" dirty="0"/>
          </a:p>
        </p:txBody>
      </p:sp>
      <p:sp>
        <p:nvSpPr>
          <p:cNvPr id="5" name="text-4"/>
          <p:cNvSpPr txBox="1"/>
          <p:nvPr/>
        </p:nvSpPr>
        <p:spPr>
          <a:xfrm>
            <a:off x="711200" y="36576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東京・戸越銀座のアンテナショップ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丸岡城のふもとの城下町マルシェ</a:t>
            </a:r>
            <a:endParaRPr lang="en-US" sz="1800" dirty="0"/>
          </a:p>
        </p:txBody>
      </p:sp>
      <p:sp>
        <p:nvSpPr>
          <p:cNvPr id="6" name="shape-5"/>
          <p:cNvSpPr/>
          <p:nvPr/>
        </p:nvSpPr>
        <p:spPr>
          <a:xfrm>
            <a:off x="711200" y="4610100"/>
            <a:ext cx="1828800" cy="3556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text-6"/>
          <p:cNvSpPr txBox="1"/>
          <p:nvPr/>
        </p:nvSpPr>
        <p:spPr>
          <a:xfrm>
            <a:off x="711200" y="4610100"/>
            <a:ext cx="182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福井県坂井市</a:t>
            </a:r>
            <a:endParaRPr lang="en-US" sz="1300" dirty="0"/>
          </a:p>
        </p:txBody>
      </p:sp>
      <p:sp>
        <p:nvSpPr>
          <p:cNvPr id="8" name="text-7"/>
          <p:cNvSpPr txBox="1"/>
          <p:nvPr/>
        </p:nvSpPr>
        <p:spPr>
          <a:xfrm>
            <a:off x="711200" y="54610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お取引先各位</a:t>
            </a:r>
            <a:endParaRPr lang="en-US" sz="1400" dirty="0"/>
          </a:p>
        </p:txBody>
      </p:sp>
      <p:sp>
        <p:nvSpPr>
          <p:cNvPr id="9" name="text-8"/>
          <p:cNvSpPr txBox="1"/>
          <p:nvPr/>
        </p:nvSpPr>
        <p:spPr>
          <a:xfrm>
            <a:off x="711200" y="58420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2026.10</a:t>
            </a:r>
            <a:endParaRPr lang="en-US" sz="1300" dirty="0"/>
          </a:p>
        </p:txBody>
      </p:sp>
      <p:sp>
        <p:nvSpPr>
          <p:cNvPr id="10" name="text-9"/>
          <p:cNvSpPr txBox="1"/>
          <p:nvPr/>
        </p:nvSpPr>
        <p:spPr>
          <a:xfrm>
            <a:off x="3251200" y="5842000"/>
            <a:ext cx="254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作成：【要記入】</a:t>
            </a:r>
            <a:endParaRPr lang="en-US" sz="1300" dirty="0"/>
          </a:p>
        </p:txBody>
      </p:sp>
      <p:sp>
        <p:nvSpPr>
          <p:cNvPr id="11" name="line-10"/>
          <p:cNvSpPr/>
          <p:nvPr/>
        </p:nvSpPr>
        <p:spPr>
          <a:xfrm>
            <a:off x="711200" y="6235700"/>
            <a:ext cx="5080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pic>
        <p:nvPicPr>
          <p:cNvPr id="12" name="photo-11" descr="丸岡城天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2"/>
          <p:cNvSpPr txBox="1"/>
          <p:nvPr/>
        </p:nvSpPr>
        <p:spPr>
          <a:xfrm>
            <a:off x="711200" y="457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00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11200" y="711200"/>
            <a:ext cx="1076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2店舗の位置づけ</a:t>
            </a:r>
            <a:endParaRPr lang="en-US" sz="2800" dirty="0"/>
          </a:p>
        </p:txBody>
      </p:sp>
      <p:sp>
        <p:nvSpPr>
          <p:cNvPr id="4" name="shape-13"/>
          <p:cNvSpPr/>
          <p:nvPr/>
        </p:nvSpPr>
        <p:spPr>
          <a:xfrm>
            <a:off x="711200" y="1714500"/>
            <a:ext cx="5207000" cy="408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photo-14" descr="戸越銀座商店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1714500"/>
            <a:ext cx="5207000" cy="2159000"/>
          </a:xfrm>
          <a:prstGeom prst="rect">
            <a:avLst/>
          </a:prstGeom>
        </p:spPr>
      </p:pic>
      <p:sp>
        <p:nvSpPr>
          <p:cNvPr id="6" name="text-15"/>
          <p:cNvSpPr txBox="1"/>
          <p:nvPr/>
        </p:nvSpPr>
        <p:spPr>
          <a:xfrm>
            <a:off x="990600" y="4102100"/>
            <a:ext cx="469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首都圏の情報発信・販売拠点</a:t>
            </a:r>
            <a:endParaRPr lang="en-US" sz="1300" dirty="0"/>
          </a:p>
        </p:txBody>
      </p:sp>
      <p:sp>
        <p:nvSpPr>
          <p:cNvPr id="7" name="text-16"/>
          <p:cNvSpPr txBox="1"/>
          <p:nvPr/>
        </p:nvSpPr>
        <p:spPr>
          <a:xfrm>
            <a:off x="990600" y="4394200"/>
            <a:ext cx="469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福井県坂井市アンテナショップ</a:t>
            </a:r>
            <a:endParaRPr lang="en-US" sz="2000" dirty="0"/>
          </a:p>
        </p:txBody>
      </p:sp>
      <p:sp>
        <p:nvSpPr>
          <p:cNvPr id="8" name="text-17"/>
          <p:cNvSpPr txBox="1"/>
          <p:nvPr/>
        </p:nvSpPr>
        <p:spPr>
          <a:xfrm>
            <a:off x="990600" y="4876800"/>
            <a:ext cx="469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戸越銀座商店街の中で、坂井市の名店の味や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季節の野菜・魚介類・惣菜を販売しています</a:t>
            </a:r>
            <a:endParaRPr lang="en-US" sz="1400" dirty="0"/>
          </a:p>
        </p:txBody>
      </p:sp>
      <p:sp>
        <p:nvSpPr>
          <p:cNvPr id="9" name="shape-18"/>
          <p:cNvSpPr/>
          <p:nvPr/>
        </p:nvSpPr>
        <p:spPr>
          <a:xfrm>
            <a:off x="6273800" y="1714500"/>
            <a:ext cx="5207000" cy="408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0" name="photo-19" descr="城下町マルシェ店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800" y="1714500"/>
            <a:ext cx="5207000" cy="2159000"/>
          </a:xfrm>
          <a:prstGeom prst="rect">
            <a:avLst/>
          </a:prstGeom>
        </p:spPr>
      </p:pic>
      <p:sp>
        <p:nvSpPr>
          <p:cNvPr id="11" name="text-20"/>
          <p:cNvSpPr txBox="1"/>
          <p:nvPr/>
        </p:nvSpPr>
        <p:spPr>
          <a:xfrm>
            <a:off x="6553200" y="4102100"/>
            <a:ext cx="469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現地で観光客と地域住民をつなぐ拠点</a:t>
            </a:r>
            <a:endParaRPr lang="en-US" sz="1300" dirty="0"/>
          </a:p>
        </p:txBody>
      </p:sp>
      <p:sp>
        <p:nvSpPr>
          <p:cNvPr id="12" name="text-21"/>
          <p:cNvSpPr txBox="1"/>
          <p:nvPr/>
        </p:nvSpPr>
        <p:spPr>
          <a:xfrm>
            <a:off x="6553200" y="4394200"/>
            <a:ext cx="469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城下町マルシェ</a:t>
            </a:r>
            <a:endParaRPr lang="en-US" sz="2000" dirty="0"/>
          </a:p>
        </p:txBody>
      </p:sp>
      <p:sp>
        <p:nvSpPr>
          <p:cNvPr id="13" name="text-22"/>
          <p:cNvSpPr txBox="1"/>
          <p:nvPr/>
        </p:nvSpPr>
        <p:spPr>
          <a:xfrm>
            <a:off x="6553200" y="4876800"/>
            <a:ext cx="469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丸岡城のふもとで、福井県内中心の約300品を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扱っています（2026年4月開店）</a:t>
            </a:r>
            <a:endParaRPr lang="en-US" sz="1400" dirty="0"/>
          </a:p>
        </p:txBody>
      </p:sp>
      <p:sp>
        <p:nvSpPr>
          <p:cNvPr id="14" name="text-23"/>
          <p:cNvSpPr txBox="1"/>
          <p:nvPr/>
        </p:nvSpPr>
        <p:spPr>
          <a:xfrm>
            <a:off x="711200" y="6045200"/>
            <a:ext cx="965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どちらも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坂井市の産品と人をつなぐ拠点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として運営されています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4"/>
          <p:cNvSpPr txBox="1"/>
          <p:nvPr/>
        </p:nvSpPr>
        <p:spPr>
          <a:xfrm>
            <a:off x="711200" y="457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11200" y="711200"/>
            <a:ext cx="563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城下町マルシェ</a:t>
            </a:r>
            <a:endParaRPr lang="en-US" sz="2800" dirty="0"/>
          </a:p>
        </p:txBody>
      </p:sp>
      <p:sp>
        <p:nvSpPr>
          <p:cNvPr id="4" name="text-25"/>
          <p:cNvSpPr txBox="1"/>
          <p:nvPr/>
        </p:nvSpPr>
        <p:spPr>
          <a:xfrm>
            <a:off x="711200" y="17145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コンセプト</a:t>
            </a:r>
            <a:endParaRPr lang="en-US" sz="1300" dirty="0"/>
          </a:p>
        </p:txBody>
      </p:sp>
      <p:sp>
        <p:nvSpPr>
          <p:cNvPr id="5" name="text-26"/>
          <p:cNvSpPr txBox="1"/>
          <p:nvPr/>
        </p:nvSpPr>
        <p:spPr>
          <a:xfrm>
            <a:off x="711200" y="1981200"/>
            <a:ext cx="5638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chemeClr val="accent2"/>
                </a:solidFill>
              </a:rPr>
              <a:t>日常と観光が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chemeClr val="accent2"/>
                </a:solidFill>
              </a:rPr>
              <a:t>循環する拠点へ</a:t>
            </a:r>
            <a:endParaRPr lang="en-US" sz="2600" dirty="0"/>
          </a:p>
        </p:txBody>
      </p:sp>
      <p:sp>
        <p:nvSpPr>
          <p:cNvPr id="6" name="text-27"/>
          <p:cNvSpPr txBox="1"/>
          <p:nvPr/>
        </p:nvSpPr>
        <p:spPr>
          <a:xfrm>
            <a:off x="711200" y="3086100"/>
            <a:ext cx="5638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観光客と地域住民が自然に交わる場として、丸岡城周辺に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新しい人の流れを生み出すことを目指しています</a:t>
            </a:r>
            <a:endParaRPr lang="en-US" sz="1400" dirty="0"/>
          </a:p>
        </p:txBody>
      </p:sp>
      <p:sp>
        <p:nvSpPr>
          <p:cNvPr id="7" name="line-28"/>
          <p:cNvSpPr/>
          <p:nvPr/>
        </p:nvSpPr>
        <p:spPr>
          <a:xfrm>
            <a:off x="711200" y="3975100"/>
            <a:ext cx="5638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line-29"/>
          <p:cNvSpPr/>
          <p:nvPr/>
        </p:nvSpPr>
        <p:spPr>
          <a:xfrm>
            <a:off x="711200" y="5092700"/>
            <a:ext cx="5638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line-30"/>
          <p:cNvSpPr/>
          <p:nvPr/>
        </p:nvSpPr>
        <p:spPr>
          <a:xfrm>
            <a:off x="3530600" y="3975100"/>
            <a:ext cx="0" cy="11176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-31"/>
          <p:cNvSpPr txBox="1"/>
          <p:nvPr/>
        </p:nvSpPr>
        <p:spPr>
          <a:xfrm>
            <a:off x="711200" y="4152900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約300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品</a:t>
            </a:r>
            <a:endParaRPr lang="en-US" sz="1500" dirty="0"/>
          </a:p>
        </p:txBody>
      </p:sp>
      <p:sp>
        <p:nvSpPr>
          <p:cNvPr id="11" name="text-32"/>
          <p:cNvSpPr txBox="1"/>
          <p:nvPr/>
        </p:nvSpPr>
        <p:spPr>
          <a:xfrm>
            <a:off x="711200" y="469900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福井県内中心の品ぞろえ</a:t>
            </a:r>
            <a:endParaRPr lang="en-US" sz="1300" dirty="0"/>
          </a:p>
        </p:txBody>
      </p:sp>
      <p:sp>
        <p:nvSpPr>
          <p:cNvPr id="12" name="text-33"/>
          <p:cNvSpPr txBox="1"/>
          <p:nvPr/>
        </p:nvSpPr>
        <p:spPr>
          <a:xfrm>
            <a:off x="3733800" y="4152900"/>
            <a:ext cx="241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無休</a:t>
            </a:r>
            <a:endParaRPr lang="en-US" sz="3000" dirty="0"/>
          </a:p>
        </p:txBody>
      </p:sp>
      <p:sp>
        <p:nvSpPr>
          <p:cNvPr id="13" name="text-34"/>
          <p:cNvSpPr txBox="1"/>
          <p:nvPr/>
        </p:nvSpPr>
        <p:spPr>
          <a:xfrm>
            <a:off x="3733800" y="46990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年末年始を除く</a:t>
            </a:r>
            <a:endParaRPr lang="en-US" sz="1300" dirty="0"/>
          </a:p>
        </p:txBody>
      </p:sp>
      <p:sp>
        <p:nvSpPr>
          <p:cNvPr id="14" name="text-35"/>
          <p:cNvSpPr txBox="1"/>
          <p:nvPr/>
        </p:nvSpPr>
        <p:spPr>
          <a:xfrm>
            <a:off x="711200" y="5295900"/>
            <a:ext cx="563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平日 9:00〜16:00 ／ 土日祝 9:00〜17:00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丸岡城観光情報センター「丸岡城マチヨリマーケット」内</a:t>
            </a:r>
            <a:endParaRPr lang="en-US" sz="1400" dirty="0"/>
          </a:p>
        </p:txBody>
      </p:sp>
      <p:pic>
        <p:nvPicPr>
          <p:cNvPr id="15" name="photo-36" descr="城下町マルシェ店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5334000" cy="5969000"/>
          </a:xfrm>
          <a:prstGeom prst="rect">
            <a:avLst/>
          </a:prstGeom>
        </p:spPr>
      </p:pic>
      <p:sp>
        <p:nvSpPr>
          <p:cNvPr id="16" name="text-37"/>
          <p:cNvSpPr txBox="1"/>
          <p:nvPr/>
        </p:nvSpPr>
        <p:spPr>
          <a:xfrm>
            <a:off x="7035800" y="6096000"/>
            <a:ext cx="508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写真：株式会社ウララコミュニケーションズ（PR TIMES 2026.9.17）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8"/>
          <p:cNvSpPr txBox="1"/>
          <p:nvPr/>
        </p:nvSpPr>
        <p:spPr>
          <a:xfrm>
            <a:off x="711200" y="457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11200" y="711200"/>
            <a:ext cx="1076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丸岡町発の取扱商品</a:t>
            </a:r>
            <a:endParaRPr lang="en-US" sz="2800" dirty="0"/>
          </a:p>
        </p:txBody>
      </p:sp>
      <p:pic>
        <p:nvPicPr>
          <p:cNvPr id="4" name="photo-39" descr="谷口屋のおあげ・久保田酒造の日本酒・かき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1714500"/>
            <a:ext cx="5334000" cy="3556000"/>
          </a:xfrm>
          <a:prstGeom prst="rect">
            <a:avLst/>
          </a:prstGeom>
        </p:spPr>
      </p:pic>
      <p:sp>
        <p:nvSpPr>
          <p:cNvPr id="5" name="text-40"/>
          <p:cNvSpPr txBox="1"/>
          <p:nvPr/>
        </p:nvSpPr>
        <p:spPr>
          <a:xfrm>
            <a:off x="711200" y="5359400"/>
            <a:ext cx="533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写真：株式会社ウララコミュニケーションズ（PR TIMES 2026.9.17）</a:t>
            </a:r>
            <a:endParaRPr lang="en-US" sz="1200" dirty="0"/>
          </a:p>
        </p:txBody>
      </p:sp>
      <p:sp>
        <p:nvSpPr>
          <p:cNvPr id="6" name="badge-41"/>
          <p:cNvSpPr/>
          <p:nvPr/>
        </p:nvSpPr>
        <p:spPr>
          <a:xfrm>
            <a:off x="6451600" y="1790700"/>
            <a:ext cx="355600" cy="355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-42"/>
          <p:cNvSpPr txBox="1"/>
          <p:nvPr/>
        </p:nvSpPr>
        <p:spPr>
          <a:xfrm>
            <a:off x="6451600" y="17907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-43"/>
          <p:cNvSpPr txBox="1"/>
          <p:nvPr/>
        </p:nvSpPr>
        <p:spPr>
          <a:xfrm>
            <a:off x="6985000" y="1765300"/>
            <a:ext cx="444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谷口屋の「おあげ」</a:t>
            </a:r>
            <a:endParaRPr lang="en-US" sz="1700" dirty="0"/>
          </a:p>
        </p:txBody>
      </p:sp>
      <p:sp>
        <p:nvSpPr>
          <p:cNvPr id="9" name="text-44"/>
          <p:cNvSpPr txBox="1"/>
          <p:nvPr/>
        </p:nvSpPr>
        <p:spPr>
          <a:xfrm>
            <a:off x="6985000" y="2108200"/>
            <a:ext cx="444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創業大正14年の老舗</a:t>
            </a:r>
            <a:endParaRPr lang="en-US" sz="1400" dirty="0"/>
          </a:p>
        </p:txBody>
      </p:sp>
      <p:sp>
        <p:nvSpPr>
          <p:cNvPr id="10" name="line-45"/>
          <p:cNvSpPr/>
          <p:nvPr/>
        </p:nvSpPr>
        <p:spPr>
          <a:xfrm>
            <a:off x="6451600" y="2628900"/>
            <a:ext cx="50292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" name="badge-46"/>
          <p:cNvSpPr/>
          <p:nvPr/>
        </p:nvSpPr>
        <p:spPr>
          <a:xfrm>
            <a:off x="6451600" y="2806700"/>
            <a:ext cx="355600" cy="355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-47"/>
          <p:cNvSpPr txBox="1"/>
          <p:nvPr/>
        </p:nvSpPr>
        <p:spPr>
          <a:xfrm>
            <a:off x="6451600" y="28067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-48"/>
          <p:cNvSpPr txBox="1"/>
          <p:nvPr/>
        </p:nvSpPr>
        <p:spPr>
          <a:xfrm>
            <a:off x="6985000" y="2781300"/>
            <a:ext cx="444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久保田酒造の日本酒</a:t>
            </a:r>
            <a:endParaRPr lang="en-US" sz="1700" dirty="0"/>
          </a:p>
        </p:txBody>
      </p:sp>
      <p:sp>
        <p:nvSpPr>
          <p:cNvPr id="14" name="text-49"/>
          <p:cNvSpPr txBox="1"/>
          <p:nvPr/>
        </p:nvSpPr>
        <p:spPr>
          <a:xfrm>
            <a:off x="6985000" y="3124200"/>
            <a:ext cx="444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江戸時代から続く酒蔵</a:t>
            </a:r>
            <a:endParaRPr lang="en-US" sz="1400" dirty="0"/>
          </a:p>
        </p:txBody>
      </p:sp>
      <p:sp>
        <p:nvSpPr>
          <p:cNvPr id="15" name="line-50"/>
          <p:cNvSpPr/>
          <p:nvPr/>
        </p:nvSpPr>
        <p:spPr>
          <a:xfrm>
            <a:off x="6451600" y="3644900"/>
            <a:ext cx="50292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badge-51"/>
          <p:cNvSpPr/>
          <p:nvPr/>
        </p:nvSpPr>
        <p:spPr>
          <a:xfrm>
            <a:off x="6451600" y="3822700"/>
            <a:ext cx="355600" cy="355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-52"/>
          <p:cNvSpPr txBox="1"/>
          <p:nvPr/>
        </p:nvSpPr>
        <p:spPr>
          <a:xfrm>
            <a:off x="6451600" y="38227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-53"/>
          <p:cNvSpPr txBox="1"/>
          <p:nvPr/>
        </p:nvSpPr>
        <p:spPr>
          <a:xfrm>
            <a:off x="6985000" y="3797300"/>
            <a:ext cx="444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よっちゃんかき餅</a:t>
            </a:r>
            <a:endParaRPr lang="en-US" sz="1700" dirty="0"/>
          </a:p>
        </p:txBody>
      </p:sp>
      <p:sp>
        <p:nvSpPr>
          <p:cNvPr id="19" name="text-54"/>
          <p:cNvSpPr txBox="1"/>
          <p:nvPr/>
        </p:nvSpPr>
        <p:spPr>
          <a:xfrm>
            <a:off x="6985000" y="4140200"/>
            <a:ext cx="444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地元で親しまれる味</a:t>
            </a:r>
            <a:endParaRPr lang="en-US" sz="1400" dirty="0"/>
          </a:p>
        </p:txBody>
      </p:sp>
      <p:sp>
        <p:nvSpPr>
          <p:cNvPr id="20" name="line-55"/>
          <p:cNvSpPr/>
          <p:nvPr/>
        </p:nvSpPr>
        <p:spPr>
          <a:xfrm>
            <a:off x="6451600" y="4635500"/>
            <a:ext cx="50292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-56"/>
          <p:cNvSpPr txBox="1"/>
          <p:nvPr/>
        </p:nvSpPr>
        <p:spPr>
          <a:xfrm>
            <a:off x="6451600" y="48006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ほかの取扱カテゴリ</a:t>
            </a:r>
            <a:endParaRPr lang="en-US" sz="1300" dirty="0"/>
          </a:p>
        </p:txBody>
      </p:sp>
      <p:sp>
        <p:nvSpPr>
          <p:cNvPr id="22" name="shape-57"/>
          <p:cNvSpPr/>
          <p:nvPr/>
        </p:nvSpPr>
        <p:spPr>
          <a:xfrm>
            <a:off x="6451600" y="5105400"/>
            <a:ext cx="774700" cy="304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-58"/>
          <p:cNvSpPr txBox="1"/>
          <p:nvPr/>
        </p:nvSpPr>
        <p:spPr>
          <a:xfrm>
            <a:off x="6451600" y="5105400"/>
            <a:ext cx="77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特産品</a:t>
            </a:r>
            <a:endParaRPr lang="en-US" sz="1300" dirty="0"/>
          </a:p>
        </p:txBody>
      </p:sp>
      <p:sp>
        <p:nvSpPr>
          <p:cNvPr id="24" name="shape-59"/>
          <p:cNvSpPr/>
          <p:nvPr/>
        </p:nvSpPr>
        <p:spPr>
          <a:xfrm>
            <a:off x="7302500" y="5105400"/>
            <a:ext cx="774700" cy="304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-60"/>
          <p:cNvSpPr txBox="1"/>
          <p:nvPr/>
        </p:nvSpPr>
        <p:spPr>
          <a:xfrm>
            <a:off x="7302500" y="5105400"/>
            <a:ext cx="77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お菓子</a:t>
            </a:r>
            <a:endParaRPr lang="en-US" sz="1300" dirty="0"/>
          </a:p>
        </p:txBody>
      </p:sp>
      <p:sp>
        <p:nvSpPr>
          <p:cNvPr id="26" name="shape-61"/>
          <p:cNvSpPr/>
          <p:nvPr/>
        </p:nvSpPr>
        <p:spPr>
          <a:xfrm>
            <a:off x="8153400" y="5105400"/>
            <a:ext cx="774700" cy="304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-62"/>
          <p:cNvSpPr txBox="1"/>
          <p:nvPr/>
        </p:nvSpPr>
        <p:spPr>
          <a:xfrm>
            <a:off x="8153400" y="5105400"/>
            <a:ext cx="77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調味料</a:t>
            </a:r>
            <a:endParaRPr lang="en-US" sz="1300" dirty="0"/>
          </a:p>
        </p:txBody>
      </p:sp>
      <p:sp>
        <p:nvSpPr>
          <p:cNvPr id="28" name="shape-63"/>
          <p:cNvSpPr/>
          <p:nvPr/>
        </p:nvSpPr>
        <p:spPr>
          <a:xfrm>
            <a:off x="9004300" y="5105400"/>
            <a:ext cx="609600" cy="304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-64"/>
          <p:cNvSpPr txBox="1"/>
          <p:nvPr/>
        </p:nvSpPr>
        <p:spPr>
          <a:xfrm>
            <a:off x="9004300" y="510540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野菜</a:t>
            </a:r>
            <a:endParaRPr lang="en-US" sz="1300" dirty="0"/>
          </a:p>
        </p:txBody>
      </p:sp>
      <p:sp>
        <p:nvSpPr>
          <p:cNvPr id="30" name="shape-65"/>
          <p:cNvSpPr/>
          <p:nvPr/>
        </p:nvSpPr>
        <p:spPr>
          <a:xfrm>
            <a:off x="9690100" y="5105400"/>
            <a:ext cx="774700" cy="304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text-66"/>
          <p:cNvSpPr txBox="1"/>
          <p:nvPr/>
        </p:nvSpPr>
        <p:spPr>
          <a:xfrm>
            <a:off x="9690100" y="5105400"/>
            <a:ext cx="77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工芸品</a:t>
            </a:r>
            <a:endParaRPr lang="en-US" sz="1300" dirty="0"/>
          </a:p>
        </p:txBody>
      </p:sp>
      <p:sp>
        <p:nvSpPr>
          <p:cNvPr id="32" name="shape-67"/>
          <p:cNvSpPr/>
          <p:nvPr/>
        </p:nvSpPr>
        <p:spPr>
          <a:xfrm>
            <a:off x="6451600" y="5511800"/>
            <a:ext cx="1104900" cy="304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-68"/>
          <p:cNvSpPr txBox="1"/>
          <p:nvPr/>
        </p:nvSpPr>
        <p:spPr>
          <a:xfrm>
            <a:off x="6451600" y="5511800"/>
            <a:ext cx="110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暮らしの品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-69" descr="戸越銀座商店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</p:spPr>
      </p:pic>
      <p:sp>
        <p:nvSpPr>
          <p:cNvPr id="3" name="text-70"/>
          <p:cNvSpPr txBox="1"/>
          <p:nvPr/>
        </p:nvSpPr>
        <p:spPr>
          <a:xfrm>
            <a:off x="5638800" y="457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638800" y="7112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戸越銀座のアンテナショップ</a:t>
            </a:r>
            <a:endParaRPr lang="en-US" sz="2800" dirty="0"/>
          </a:p>
        </p:txBody>
      </p:sp>
      <p:sp>
        <p:nvSpPr>
          <p:cNvPr id="5" name="text-71"/>
          <p:cNvSpPr txBox="1"/>
          <p:nvPr/>
        </p:nvSpPr>
        <p:spPr>
          <a:xfrm>
            <a:off x="5638800" y="1714500"/>
            <a:ext cx="594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坂井市の名店の味や季節の野菜・魚介類・惣菜など、</a:t>
            </a:r>
            <a:pPr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都内ではここでしか食べられない商品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を扱っています。坂井市の特産品を首都圏の生活者に直接届けています</a:t>
            </a:r>
            <a:endParaRPr lang="en-US" sz="1400" dirty="0"/>
          </a:p>
        </p:txBody>
      </p:sp>
      <p:sp>
        <p:nvSpPr>
          <p:cNvPr id="6" name="line-72"/>
          <p:cNvSpPr/>
          <p:nvPr/>
        </p:nvSpPr>
        <p:spPr>
          <a:xfrm>
            <a:off x="5638800" y="2921000"/>
            <a:ext cx="5943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line-73"/>
          <p:cNvSpPr/>
          <p:nvPr/>
        </p:nvSpPr>
        <p:spPr>
          <a:xfrm>
            <a:off x="5638800" y="4038600"/>
            <a:ext cx="5943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-74"/>
          <p:cNvSpPr txBox="1"/>
          <p:nvPr/>
        </p:nvSpPr>
        <p:spPr>
          <a:xfrm>
            <a:off x="5638800" y="3098800"/>
            <a:ext cx="167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km</a:t>
            </a:r>
            <a:endParaRPr lang="en-US" sz="1500" dirty="0"/>
          </a:p>
        </p:txBody>
      </p:sp>
      <p:sp>
        <p:nvSpPr>
          <p:cNvPr id="9" name="text-75"/>
          <p:cNvSpPr txBox="1"/>
          <p:nvPr/>
        </p:nvSpPr>
        <p:spPr>
          <a:xfrm>
            <a:off x="5638800" y="36576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商店街の全長</a:t>
            </a:r>
            <a:endParaRPr lang="en-US" sz="1300" dirty="0"/>
          </a:p>
        </p:txBody>
      </p:sp>
      <p:sp>
        <p:nvSpPr>
          <p:cNvPr id="10" name="line-76"/>
          <p:cNvSpPr/>
          <p:nvPr/>
        </p:nvSpPr>
        <p:spPr>
          <a:xfrm>
            <a:off x="7493000" y="2921000"/>
            <a:ext cx="0" cy="11176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-77"/>
          <p:cNvSpPr txBox="1"/>
          <p:nvPr/>
        </p:nvSpPr>
        <p:spPr>
          <a:xfrm>
            <a:off x="7670800" y="3098800"/>
            <a:ext cx="167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店</a:t>
            </a:r>
            <a:endParaRPr lang="en-US" sz="1500" dirty="0"/>
          </a:p>
        </p:txBody>
      </p:sp>
      <p:sp>
        <p:nvSpPr>
          <p:cNvPr id="12" name="text-78"/>
          <p:cNvSpPr txBox="1"/>
          <p:nvPr/>
        </p:nvSpPr>
        <p:spPr>
          <a:xfrm>
            <a:off x="7670800" y="36576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約400店が並ぶ</a:t>
            </a:r>
            <a:endParaRPr lang="en-US" sz="1300" dirty="0"/>
          </a:p>
        </p:txBody>
      </p:sp>
      <p:sp>
        <p:nvSpPr>
          <p:cNvPr id="13" name="line-79"/>
          <p:cNvSpPr/>
          <p:nvPr/>
        </p:nvSpPr>
        <p:spPr>
          <a:xfrm>
            <a:off x="9347200" y="2921000"/>
            <a:ext cx="0" cy="11176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-80"/>
          <p:cNvSpPr txBox="1"/>
          <p:nvPr/>
        </p:nvSpPr>
        <p:spPr>
          <a:xfrm>
            <a:off x="9525000" y="3098800"/>
            <a:ext cx="2057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万人以上</a:t>
            </a:r>
            <a:endParaRPr lang="en-US" sz="1500" dirty="0"/>
          </a:p>
        </p:txBody>
      </p:sp>
      <p:sp>
        <p:nvSpPr>
          <p:cNvPr id="15" name="text-81"/>
          <p:cNvSpPr txBox="1"/>
          <p:nvPr/>
        </p:nvSpPr>
        <p:spPr>
          <a:xfrm>
            <a:off x="9525000" y="3657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週末の来訪者数</a:t>
            </a:r>
            <a:endParaRPr lang="en-US" sz="1300" dirty="0"/>
          </a:p>
        </p:txBody>
      </p:sp>
      <p:sp>
        <p:nvSpPr>
          <p:cNvPr id="16" name="text-82"/>
          <p:cNvSpPr txBox="1"/>
          <p:nvPr/>
        </p:nvSpPr>
        <p:spPr>
          <a:xfrm>
            <a:off x="5638800" y="4241800"/>
            <a:ext cx="5943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東急池上線「戸越銀座」駅・都営浅草線「戸越」駅 至近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「○○銀座」と名のつく全国の商店街のルーツとされる商店街です</a:t>
            </a:r>
            <a:endParaRPr lang="en-US" sz="1400" dirty="0"/>
          </a:p>
        </p:txBody>
      </p:sp>
      <p:sp>
        <p:nvSpPr>
          <p:cNvPr id="17" name="text-83"/>
          <p:cNvSpPr txBox="1"/>
          <p:nvPr/>
        </p:nvSpPr>
        <p:spPr>
          <a:xfrm>
            <a:off x="5638800" y="6324600"/>
            <a:ext cx="584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写真：Kentin / Wikimedia Commons（CC BY-SA 3.0・2005年撮影）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-84" descr="桜に囲まれた丸岡城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</p:spPr>
      </p:pic>
      <p:sp>
        <p:nvSpPr>
          <p:cNvPr id="3" name="text-85"/>
          <p:cNvSpPr txBox="1"/>
          <p:nvPr/>
        </p:nvSpPr>
        <p:spPr>
          <a:xfrm>
            <a:off x="5638800" y="457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638800" y="7112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周辺情報 丸岡城</a:t>
            </a:r>
            <a:endParaRPr lang="en-US" sz="2800" dirty="0"/>
          </a:p>
        </p:txBody>
      </p:sp>
      <p:sp>
        <p:nvSpPr>
          <p:cNvPr id="5" name="text-86"/>
          <p:cNvSpPr txBox="1"/>
          <p:nvPr/>
        </p:nvSpPr>
        <p:spPr>
          <a:xfrm>
            <a:off x="5638800" y="16764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1576</a:t>
            </a:r>
            <a:endParaRPr lang="en-US" sz="6600" dirty="0"/>
          </a:p>
        </p:txBody>
      </p:sp>
      <p:sp>
        <p:nvSpPr>
          <p:cNvPr id="6" name="text-87"/>
          <p:cNvSpPr txBox="1"/>
          <p:nvPr/>
        </p:nvSpPr>
        <p:spPr>
          <a:xfrm>
            <a:off x="8128000" y="19304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天正4年、柴田勝豊が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築いたと伝わる天守</a:t>
            </a:r>
            <a:endParaRPr lang="en-US" sz="1400" dirty="0"/>
          </a:p>
        </p:txBody>
      </p:sp>
      <p:sp>
        <p:nvSpPr>
          <p:cNvPr id="7" name="line-88"/>
          <p:cNvSpPr/>
          <p:nvPr/>
        </p:nvSpPr>
        <p:spPr>
          <a:xfrm>
            <a:off x="5638800" y="2933700"/>
            <a:ext cx="5943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-89"/>
          <p:cNvSpPr txBox="1"/>
          <p:nvPr/>
        </p:nvSpPr>
        <p:spPr>
          <a:xfrm>
            <a:off x="5638800" y="3136900"/>
            <a:ext cx="139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希少性</a:t>
            </a:r>
            <a:endParaRPr lang="en-US" sz="1300" dirty="0"/>
          </a:p>
        </p:txBody>
      </p:sp>
      <p:sp>
        <p:nvSpPr>
          <p:cNvPr id="9" name="text-90"/>
          <p:cNvSpPr txBox="1"/>
          <p:nvPr/>
        </p:nvSpPr>
        <p:spPr>
          <a:xfrm>
            <a:off x="7239000" y="3098800"/>
            <a:ext cx="431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北陸唯一の現存天守</a:t>
            </a:r>
            <a:endParaRPr lang="en-US" sz="1700" dirty="0"/>
          </a:p>
        </p:txBody>
      </p:sp>
      <p:sp>
        <p:nvSpPr>
          <p:cNvPr id="10" name="line-91"/>
          <p:cNvSpPr/>
          <p:nvPr/>
        </p:nvSpPr>
        <p:spPr>
          <a:xfrm>
            <a:off x="5638800" y="3568700"/>
            <a:ext cx="5943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-92"/>
          <p:cNvSpPr txBox="1"/>
          <p:nvPr/>
        </p:nvSpPr>
        <p:spPr>
          <a:xfrm>
            <a:off x="5638800" y="3771900"/>
            <a:ext cx="139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指定</a:t>
            </a:r>
            <a:endParaRPr lang="en-US" sz="1300" dirty="0"/>
          </a:p>
        </p:txBody>
      </p:sp>
      <p:sp>
        <p:nvSpPr>
          <p:cNvPr id="12" name="text-93"/>
          <p:cNvSpPr txBox="1"/>
          <p:nvPr/>
        </p:nvSpPr>
        <p:spPr>
          <a:xfrm>
            <a:off x="7239000" y="3733800"/>
            <a:ext cx="431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国の重要文化財</a:t>
            </a:r>
            <a:endParaRPr lang="en-US" sz="1700" dirty="0"/>
          </a:p>
        </p:txBody>
      </p:sp>
      <p:sp>
        <p:nvSpPr>
          <p:cNvPr id="13" name="line-94"/>
          <p:cNvSpPr/>
          <p:nvPr/>
        </p:nvSpPr>
        <p:spPr>
          <a:xfrm>
            <a:off x="5638800" y="4203700"/>
            <a:ext cx="5943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-95"/>
          <p:cNvSpPr txBox="1"/>
          <p:nvPr/>
        </p:nvSpPr>
        <p:spPr>
          <a:xfrm>
            <a:off x="5638800" y="4406900"/>
            <a:ext cx="139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位置づけ</a:t>
            </a:r>
            <a:endParaRPr lang="en-US" sz="1300" dirty="0"/>
          </a:p>
        </p:txBody>
      </p:sp>
      <p:sp>
        <p:nvSpPr>
          <p:cNvPr id="15" name="text-96"/>
          <p:cNvSpPr txBox="1"/>
          <p:nvPr/>
        </p:nvSpPr>
        <p:spPr>
          <a:xfrm>
            <a:off x="7239000" y="4368800"/>
            <a:ext cx="431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全国に現存する12天守の一つ</a:t>
            </a:r>
            <a:endParaRPr lang="en-US" sz="1700" dirty="0"/>
          </a:p>
        </p:txBody>
      </p:sp>
      <p:sp>
        <p:nvSpPr>
          <p:cNvPr id="16" name="line-97"/>
          <p:cNvSpPr/>
          <p:nvPr/>
        </p:nvSpPr>
        <p:spPr>
          <a:xfrm>
            <a:off x="5638800" y="4838700"/>
            <a:ext cx="5943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-98"/>
          <p:cNvSpPr txBox="1"/>
          <p:nvPr/>
        </p:nvSpPr>
        <p:spPr>
          <a:xfrm>
            <a:off x="5638800" y="5041900"/>
            <a:ext cx="5943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城下町マルシェは、この丸岡城のふもとにあります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坂井市丸岡町霞町1-59 ／ 天守 8:30〜17:00</a:t>
            </a:r>
            <a:endParaRPr lang="en-US" sz="1400" dirty="0"/>
          </a:p>
        </p:txBody>
      </p:sp>
      <p:sp>
        <p:nvSpPr>
          <p:cNvPr id="18" name="text-99"/>
          <p:cNvSpPr txBox="1"/>
          <p:nvPr/>
        </p:nvSpPr>
        <p:spPr>
          <a:xfrm>
            <a:off x="5638800" y="6324600"/>
            <a:ext cx="584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写真：アラツク / Wikimedia Commons（CC BY-SA 4.0）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00"/>
          <p:cNvSpPr txBox="1"/>
          <p:nvPr/>
        </p:nvSpPr>
        <p:spPr>
          <a:xfrm>
            <a:off x="711200" y="457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11200" y="711200"/>
            <a:ext cx="1076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丸岡城の修理期間</a:t>
            </a:r>
            <a:endParaRPr lang="en-US" sz="2800" dirty="0"/>
          </a:p>
        </p:txBody>
      </p:sp>
      <p:sp>
        <p:nvSpPr>
          <p:cNvPr id="4" name="text-101"/>
          <p:cNvSpPr txBox="1"/>
          <p:nvPr/>
        </p:nvSpPr>
        <p:spPr>
          <a:xfrm>
            <a:off x="711200" y="17907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2026.4</a:t>
            </a:r>
            <a:endParaRPr lang="en-US" sz="2000" dirty="0"/>
          </a:p>
        </p:txBody>
      </p:sp>
      <p:sp>
        <p:nvSpPr>
          <p:cNvPr id="5" name="text-102"/>
          <p:cNvSpPr txBox="1"/>
          <p:nvPr/>
        </p:nvSpPr>
        <p:spPr>
          <a:xfrm>
            <a:off x="711200" y="21590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大規模修理の開始</a:t>
            </a:r>
            <a:endParaRPr lang="en-US" sz="1300" dirty="0"/>
          </a:p>
        </p:txBody>
      </p:sp>
      <p:sp>
        <p:nvSpPr>
          <p:cNvPr id="6" name="text-103"/>
          <p:cNvSpPr txBox="1"/>
          <p:nvPr/>
        </p:nvSpPr>
        <p:spPr>
          <a:xfrm>
            <a:off x="2870200" y="17907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2026.8.1</a:t>
            </a:r>
            <a:endParaRPr lang="en-US" sz="2000" dirty="0"/>
          </a:p>
        </p:txBody>
      </p:sp>
      <p:sp>
        <p:nvSpPr>
          <p:cNvPr id="7" name="text-104"/>
          <p:cNvSpPr txBox="1"/>
          <p:nvPr/>
        </p:nvSpPr>
        <p:spPr>
          <a:xfrm>
            <a:off x="2870200" y="21590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特別御城印の進呈開始</a:t>
            </a:r>
            <a:endParaRPr lang="en-US" sz="1300" dirty="0"/>
          </a:p>
        </p:txBody>
      </p:sp>
      <p:sp>
        <p:nvSpPr>
          <p:cNvPr id="8" name="text-105"/>
          <p:cNvSpPr txBox="1"/>
          <p:nvPr/>
        </p:nvSpPr>
        <p:spPr>
          <a:xfrm>
            <a:off x="8940800" y="17907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2027.11</a:t>
            </a:r>
            <a:endParaRPr lang="en-US" sz="2000" dirty="0"/>
          </a:p>
        </p:txBody>
      </p:sp>
      <p:sp>
        <p:nvSpPr>
          <p:cNvPr id="9" name="text-106"/>
          <p:cNvSpPr txBox="1"/>
          <p:nvPr/>
        </p:nvSpPr>
        <p:spPr>
          <a:xfrm>
            <a:off x="8940800" y="21590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工事完了予定</a:t>
            </a:r>
            <a:endParaRPr lang="en-US" sz="1300" dirty="0"/>
          </a:p>
        </p:txBody>
      </p:sp>
      <p:sp>
        <p:nvSpPr>
          <p:cNvPr id="10" name="shape-107"/>
          <p:cNvSpPr/>
          <p:nvPr/>
        </p:nvSpPr>
        <p:spPr>
          <a:xfrm>
            <a:off x="711200" y="2628900"/>
            <a:ext cx="2146300" cy="4572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1" name="shape-108"/>
          <p:cNvSpPr/>
          <p:nvPr/>
        </p:nvSpPr>
        <p:spPr>
          <a:xfrm>
            <a:off x="2895600" y="2628900"/>
            <a:ext cx="858520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-109"/>
          <p:cNvSpPr txBox="1"/>
          <p:nvPr/>
        </p:nvSpPr>
        <p:spPr>
          <a:xfrm>
            <a:off x="711200" y="32131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4 か月</a:t>
            </a:r>
            <a:endParaRPr lang="en-US" sz="1300" dirty="0"/>
          </a:p>
        </p:txBody>
      </p:sp>
      <p:sp>
        <p:nvSpPr>
          <p:cNvPr id="13" name="text-110"/>
          <p:cNvSpPr txBox="1"/>
          <p:nvPr/>
        </p:nvSpPr>
        <p:spPr>
          <a:xfrm>
            <a:off x="2870200" y="32131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特別御城印の進呈期間（約 16 か月）</a:t>
            </a:r>
            <a:endParaRPr lang="en-US" sz="1300" dirty="0"/>
          </a:p>
        </p:txBody>
      </p:sp>
      <p:sp>
        <p:nvSpPr>
          <p:cNvPr id="14" name="line-111"/>
          <p:cNvSpPr/>
          <p:nvPr/>
        </p:nvSpPr>
        <p:spPr>
          <a:xfrm>
            <a:off x="711200" y="3975100"/>
            <a:ext cx="5207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5" name="line-112"/>
          <p:cNvSpPr/>
          <p:nvPr/>
        </p:nvSpPr>
        <p:spPr>
          <a:xfrm>
            <a:off x="6273800" y="3975100"/>
            <a:ext cx="520700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-113"/>
          <p:cNvSpPr txBox="1"/>
          <p:nvPr/>
        </p:nvSpPr>
        <p:spPr>
          <a:xfrm>
            <a:off x="711200" y="41402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留意点</a:t>
            </a:r>
            <a:endParaRPr lang="en-US" sz="1300" dirty="0"/>
          </a:p>
        </p:txBody>
      </p:sp>
      <p:sp>
        <p:nvSpPr>
          <p:cNvPr id="17" name="text-114"/>
          <p:cNvSpPr txBox="1"/>
          <p:nvPr/>
        </p:nvSpPr>
        <p:spPr>
          <a:xfrm>
            <a:off x="6273800" y="41402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注目点</a:t>
            </a:r>
            <a:endParaRPr lang="en-US" sz="1300" dirty="0"/>
          </a:p>
        </p:txBody>
      </p:sp>
      <p:sp>
        <p:nvSpPr>
          <p:cNvPr id="18" name="text-115"/>
          <p:cNvSpPr txBox="1"/>
          <p:nvPr/>
        </p:nvSpPr>
        <p:spPr>
          <a:xfrm>
            <a:off x="711200" y="4445000"/>
            <a:ext cx="520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耐震対策を含む修理のため、入場・公開に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制限や休止期間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があります</a:t>
            </a:r>
            <a:endParaRPr lang="en-US" sz="1500" dirty="0"/>
          </a:p>
        </p:txBody>
      </p:sp>
      <p:sp>
        <p:nvSpPr>
          <p:cNvPr id="19" name="text-116"/>
          <p:cNvSpPr txBox="1"/>
          <p:nvPr/>
        </p:nvSpPr>
        <p:spPr>
          <a:xfrm>
            <a:off x="6273800" y="4445000"/>
            <a:ext cx="520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工事期間中だけの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「特別御城印」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を入場券購入者に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進呈しています。この期間限定の記念品です</a:t>
            </a:r>
            <a:endParaRPr lang="en-US" sz="1500" dirty="0"/>
          </a:p>
        </p:txBody>
      </p:sp>
      <p:sp>
        <p:nvSpPr>
          <p:cNvPr id="20" name="text-117"/>
          <p:cNvSpPr txBox="1"/>
          <p:nvPr/>
        </p:nvSpPr>
        <p:spPr>
          <a:xfrm>
            <a:off x="711200" y="6324600"/>
            <a:ext cx="965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※ 公開状況は時期により変わります。最新情報は坂井市の公式案内でご確認ください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18"/>
          <p:cNvSpPr txBox="1"/>
          <p:nvPr/>
        </p:nvSpPr>
        <p:spPr>
          <a:xfrm>
            <a:off x="711200" y="457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11200" y="711200"/>
            <a:ext cx="1076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店舗情報一覧</a:t>
            </a:r>
            <a:endParaRPr lang="en-US" sz="2800" dirty="0"/>
          </a:p>
        </p:txBody>
      </p:sp>
      <p:graphicFrame>
        <p:nvGraphicFramePr>
          <p:cNvPr id="9" name="sto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" y="1714500"/>
          <a:ext cx="10769600" cy="914400"/>
        </p:xfrm>
        <a:graphic>
          <a:graphicData uri="http://schemas.openxmlformats.org/drawingml/2006/table">
            <a:tbl>
              <a:tblPr/>
              <a:tblGrid>
                <a:gridCol w="1524000"/>
                <a:gridCol w="4191000"/>
                <a:gridCol w="5054600"/>
              </a:tblGrid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福井県坂井市アンテナショップ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城下町マルシェ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所在地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東京都品川区 戸越銀座商店街内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（番地は【要確認】）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福井県坂井市霞町4丁目12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丸岡城観光情報センター「丸岡城マチヨリマーケット」内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営業時間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【要確認】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平日 9:00〜16:00 ／ 土日祝 9:00〜17:00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定休日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【要確認】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無休（年末年始を除く）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運営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【要確認】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株式会社ウララコミュニケーションズ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開店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【要確認】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2026年4月24日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-119"/>
          <p:cNvSpPr txBox="1"/>
          <p:nvPr/>
        </p:nvSpPr>
        <p:spPr>
          <a:xfrm>
            <a:off x="711200" y="6324600"/>
            <a:ext cx="965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※【要確認】は資料作成時点で公開情報から確認できなかった項目です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20"/>
          <p:cNvSpPr txBox="1"/>
          <p:nvPr/>
        </p:nvSpPr>
        <p:spPr>
          <a:xfrm>
            <a:off x="711200" y="457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11200" y="711200"/>
            <a:ext cx="1076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次のステップ</a:t>
            </a:r>
            <a:endParaRPr lang="en-US" sz="2800" dirty="0"/>
          </a:p>
        </p:txBody>
      </p:sp>
      <p:sp>
        <p:nvSpPr>
          <p:cNvPr id="4" name="shape-121"/>
          <p:cNvSpPr/>
          <p:nvPr/>
        </p:nvSpPr>
        <p:spPr>
          <a:xfrm>
            <a:off x="711200" y="1816100"/>
            <a:ext cx="10769600" cy="325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-122"/>
          <p:cNvSpPr/>
          <p:nvPr/>
        </p:nvSpPr>
        <p:spPr>
          <a:xfrm>
            <a:off x="7086600" y="1816100"/>
            <a:ext cx="4394200" cy="3251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line-123"/>
          <p:cNvSpPr/>
          <p:nvPr/>
        </p:nvSpPr>
        <p:spPr>
          <a:xfrm>
            <a:off x="7086600" y="1816100"/>
            <a:ext cx="0" cy="32512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ysDot"/>
          </a:ln>
        </p:spPr>
      </p:sp>
      <p:sp>
        <p:nvSpPr>
          <p:cNvPr id="7" name="text-124"/>
          <p:cNvSpPr txBox="1"/>
          <p:nvPr/>
        </p:nvSpPr>
        <p:spPr>
          <a:xfrm>
            <a:off x="1104900" y="21590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-125"/>
          <p:cNvSpPr txBox="1"/>
          <p:nvPr/>
        </p:nvSpPr>
        <p:spPr>
          <a:xfrm>
            <a:off x="1968500" y="2184400"/>
            <a:ext cx="482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ご来店・ご視察</a:t>
            </a:r>
            <a:endParaRPr lang="en-US" sz="1800" dirty="0"/>
          </a:p>
        </p:txBody>
      </p:sp>
      <p:sp>
        <p:nvSpPr>
          <p:cNvPr id="9" name="text-126"/>
          <p:cNvSpPr txBox="1"/>
          <p:nvPr/>
        </p:nvSpPr>
        <p:spPr>
          <a:xfrm>
            <a:off x="1968500" y="2565400"/>
            <a:ext cx="495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お近くにお越しの際は、ぜひ両店舗に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お立ち寄りください</a:t>
            </a:r>
            <a:endParaRPr lang="en-US" sz="1400" dirty="0"/>
          </a:p>
        </p:txBody>
      </p:sp>
      <p:sp>
        <p:nvSpPr>
          <p:cNvPr id="10" name="text-127"/>
          <p:cNvSpPr txBox="1"/>
          <p:nvPr/>
        </p:nvSpPr>
        <p:spPr>
          <a:xfrm>
            <a:off x="1104900" y="36830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-128"/>
          <p:cNvSpPr txBox="1"/>
          <p:nvPr/>
        </p:nvSpPr>
        <p:spPr>
          <a:xfrm>
            <a:off x="1968500" y="3708400"/>
            <a:ext cx="482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最新情報のご確認</a:t>
            </a:r>
            <a:endParaRPr lang="en-US" sz="1800" dirty="0"/>
          </a:p>
        </p:txBody>
      </p:sp>
      <p:sp>
        <p:nvSpPr>
          <p:cNvPr id="12" name="text-129"/>
          <p:cNvSpPr txBox="1"/>
          <p:nvPr/>
        </p:nvSpPr>
        <p:spPr>
          <a:xfrm>
            <a:off x="1968500" y="4089400"/>
            <a:ext cx="495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城下町マルシェの最新情報は、Instagram で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ご確認いただけます</a:t>
            </a:r>
            <a:endParaRPr lang="en-US" sz="1400" dirty="0"/>
          </a:p>
        </p:txBody>
      </p:sp>
      <p:sp>
        <p:nvSpPr>
          <p:cNvPr id="13" name="line-130"/>
          <p:cNvSpPr/>
          <p:nvPr/>
        </p:nvSpPr>
        <p:spPr>
          <a:xfrm>
            <a:off x="1104900" y="3429000"/>
            <a:ext cx="55880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-131"/>
          <p:cNvSpPr txBox="1"/>
          <p:nvPr/>
        </p:nvSpPr>
        <p:spPr>
          <a:xfrm>
            <a:off x="7442200" y="2159000"/>
            <a:ext cx="254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100" dirty="0"/>
          </a:p>
        </p:txBody>
      </p:sp>
      <p:sp>
        <p:nvSpPr>
          <p:cNvPr id="15" name="text-132"/>
          <p:cNvSpPr txBox="1"/>
          <p:nvPr/>
        </p:nvSpPr>
        <p:spPr>
          <a:xfrm>
            <a:off x="7442200" y="25273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城下町マルシェ お問い合わせ</a:t>
            </a:r>
            <a:endParaRPr lang="en-US" sz="1300" dirty="0"/>
          </a:p>
        </p:txBody>
      </p:sp>
      <p:sp>
        <p:nvSpPr>
          <p:cNvPr id="16" name="text-133"/>
          <p:cNvSpPr txBox="1"/>
          <p:nvPr/>
        </p:nvSpPr>
        <p:spPr>
          <a:xfrm>
            <a:off x="7442200" y="280670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maruoka-marche@urala.co.jp</a:t>
            </a:r>
            <a:endParaRPr lang="en-US" sz="1400" dirty="0"/>
          </a:p>
        </p:txBody>
      </p:sp>
      <p:sp>
        <p:nvSpPr>
          <p:cNvPr id="17" name="text-134"/>
          <p:cNvSpPr txBox="1"/>
          <p:nvPr/>
        </p:nvSpPr>
        <p:spPr>
          <a:xfrm>
            <a:off x="7442200" y="32258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Instagram</a:t>
            </a:r>
            <a:endParaRPr lang="en-US" sz="1300" dirty="0"/>
          </a:p>
        </p:txBody>
      </p:sp>
      <p:sp>
        <p:nvSpPr>
          <p:cNvPr id="18" name="text-135"/>
          <p:cNvSpPr txBox="1"/>
          <p:nvPr/>
        </p:nvSpPr>
        <p:spPr>
          <a:xfrm>
            <a:off x="7442200" y="350520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@machiyori.maruoka</a:t>
            </a:r>
            <a:endParaRPr lang="en-US" sz="1400" dirty="0"/>
          </a:p>
        </p:txBody>
      </p:sp>
      <p:sp>
        <p:nvSpPr>
          <p:cNvPr id="19" name="text-136"/>
          <p:cNvSpPr txBox="1"/>
          <p:nvPr/>
        </p:nvSpPr>
        <p:spPr>
          <a:xfrm>
            <a:off x="7442200" y="39243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運営</a:t>
            </a:r>
            <a:endParaRPr lang="en-US" sz="1300" dirty="0"/>
          </a:p>
        </p:txBody>
      </p:sp>
      <p:sp>
        <p:nvSpPr>
          <p:cNvPr id="20" name="text-137"/>
          <p:cNvSpPr txBox="1"/>
          <p:nvPr/>
        </p:nvSpPr>
        <p:spPr>
          <a:xfrm>
            <a:off x="7442200" y="420370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株式会社ウララコミュニケーションズ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38"/>
          <p:cNvSpPr txBox="1"/>
          <p:nvPr/>
        </p:nvSpPr>
        <p:spPr>
          <a:xfrm>
            <a:off x="711200" y="457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01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11200" y="711200"/>
            <a:ext cx="1076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出典・写真クレジット</a:t>
            </a:r>
            <a:endParaRPr lang="en-US" sz="2800" dirty="0"/>
          </a:p>
        </p:txBody>
      </p:sp>
      <p:sp>
        <p:nvSpPr>
          <p:cNvPr id="4" name="text-139"/>
          <p:cNvSpPr txBox="1"/>
          <p:nvPr/>
        </p:nvSpPr>
        <p:spPr>
          <a:xfrm>
            <a:off x="711200" y="17399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出典</a:t>
            </a:r>
            <a:endParaRPr lang="en-US" sz="1300" dirty="0"/>
          </a:p>
        </p:txBody>
      </p:sp>
      <p:sp>
        <p:nvSpPr>
          <p:cNvPr id="5" name="line-140"/>
          <p:cNvSpPr/>
          <p:nvPr/>
        </p:nvSpPr>
        <p:spPr>
          <a:xfrm>
            <a:off x="711200" y="2057400"/>
            <a:ext cx="51562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141"/>
          <p:cNvSpPr txBox="1"/>
          <p:nvPr/>
        </p:nvSpPr>
        <p:spPr>
          <a:xfrm>
            <a:off x="711200" y="2159000"/>
            <a:ext cx="5156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株式会社ウララコミュニケーションズ プレスリリース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（PR TIMES、2026年9月17日）</a:t>
            </a:r>
            <a:endParaRPr lang="en-US" sz="1300" dirty="0"/>
          </a:p>
        </p:txBody>
      </p:sp>
      <p:sp>
        <p:nvSpPr>
          <p:cNvPr id="7" name="line-142"/>
          <p:cNvSpPr/>
          <p:nvPr/>
        </p:nvSpPr>
        <p:spPr>
          <a:xfrm>
            <a:off x="711200" y="2819400"/>
            <a:ext cx="51562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-143"/>
          <p:cNvSpPr txBox="1"/>
          <p:nvPr/>
        </p:nvSpPr>
        <p:spPr>
          <a:xfrm>
            <a:off x="711200" y="2921000"/>
            <a:ext cx="5156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Enjoy Tokyo「戸越銀座駅周辺のスポット」</a:t>
            </a:r>
            <a:endParaRPr lang="en-US" sz="1300" dirty="0"/>
          </a:p>
        </p:txBody>
      </p:sp>
      <p:sp>
        <p:nvSpPr>
          <p:cNvPr id="9" name="line-144"/>
          <p:cNvSpPr/>
          <p:nvPr/>
        </p:nvSpPr>
        <p:spPr>
          <a:xfrm>
            <a:off x="711200" y="3302000"/>
            <a:ext cx="51562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-145"/>
          <p:cNvSpPr txBox="1"/>
          <p:nvPr/>
        </p:nvSpPr>
        <p:spPr>
          <a:xfrm>
            <a:off x="711200" y="3403600"/>
            <a:ext cx="5156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るるぶ&amp;more「戸越銀座商店街」「丸岡城（霞ヶ城）」</a:t>
            </a:r>
            <a:endParaRPr lang="en-US" sz="1300" dirty="0"/>
          </a:p>
        </p:txBody>
      </p:sp>
      <p:sp>
        <p:nvSpPr>
          <p:cNvPr id="11" name="line-146"/>
          <p:cNvSpPr/>
          <p:nvPr/>
        </p:nvSpPr>
        <p:spPr>
          <a:xfrm>
            <a:off x="711200" y="3784600"/>
            <a:ext cx="51562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-147"/>
          <p:cNvSpPr txBox="1"/>
          <p:nvPr/>
        </p:nvSpPr>
        <p:spPr>
          <a:xfrm>
            <a:off x="711200" y="3886200"/>
            <a:ext cx="5156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福井ハピ（fuku-iro.jp）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「丸岡城の甲冑体験とおすすめ立ち寄りスポット」</a:t>
            </a:r>
            <a:endParaRPr lang="en-US" sz="1300" dirty="0"/>
          </a:p>
        </p:txBody>
      </p:sp>
      <p:sp>
        <p:nvSpPr>
          <p:cNvPr id="13" name="line-148"/>
          <p:cNvSpPr/>
          <p:nvPr/>
        </p:nvSpPr>
        <p:spPr>
          <a:xfrm>
            <a:off x="711200" y="4546600"/>
            <a:ext cx="51562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-149"/>
          <p:cNvSpPr txBox="1"/>
          <p:nvPr/>
        </p:nvSpPr>
        <p:spPr>
          <a:xfrm>
            <a:off x="6324600" y="17399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写真</a:t>
            </a:r>
            <a:endParaRPr lang="en-US" sz="1300" dirty="0"/>
          </a:p>
        </p:txBody>
      </p:sp>
      <p:sp>
        <p:nvSpPr>
          <p:cNvPr id="15" name="line-150"/>
          <p:cNvSpPr/>
          <p:nvPr/>
        </p:nvSpPr>
        <p:spPr>
          <a:xfrm>
            <a:off x="6324600" y="2057400"/>
            <a:ext cx="51562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-151"/>
          <p:cNvSpPr txBox="1"/>
          <p:nvPr/>
        </p:nvSpPr>
        <p:spPr>
          <a:xfrm>
            <a:off x="6324600" y="2159000"/>
            <a:ext cx="5156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丸岡城天守：Tomio344456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（Wikimedia Commons・CC BY-SA 4.0）</a:t>
            </a:r>
            <a:endParaRPr lang="en-US" sz="1300" dirty="0"/>
          </a:p>
        </p:txBody>
      </p:sp>
      <p:sp>
        <p:nvSpPr>
          <p:cNvPr id="17" name="line-152"/>
          <p:cNvSpPr/>
          <p:nvPr/>
        </p:nvSpPr>
        <p:spPr>
          <a:xfrm>
            <a:off x="6324600" y="2819400"/>
            <a:ext cx="51562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-153"/>
          <p:cNvSpPr txBox="1"/>
          <p:nvPr/>
        </p:nvSpPr>
        <p:spPr>
          <a:xfrm>
            <a:off x="6324600" y="2921000"/>
            <a:ext cx="5156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桜の丸岡城：アラツク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（Wikimedia Commons・CC BY-SA 4.0）</a:t>
            </a:r>
            <a:endParaRPr lang="en-US" sz="1300" dirty="0"/>
          </a:p>
        </p:txBody>
      </p:sp>
      <p:sp>
        <p:nvSpPr>
          <p:cNvPr id="19" name="line-154"/>
          <p:cNvSpPr/>
          <p:nvPr/>
        </p:nvSpPr>
        <p:spPr>
          <a:xfrm>
            <a:off x="6324600" y="3581400"/>
            <a:ext cx="51562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-155"/>
          <p:cNvSpPr txBox="1"/>
          <p:nvPr/>
        </p:nvSpPr>
        <p:spPr>
          <a:xfrm>
            <a:off x="6324600" y="3683000"/>
            <a:ext cx="5156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戸越銀座商店街：Kentin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（Wikimedia Commons・CC BY-SA 3.0）</a:t>
            </a:r>
            <a:endParaRPr lang="en-US" sz="1300" dirty="0"/>
          </a:p>
        </p:txBody>
      </p:sp>
      <p:sp>
        <p:nvSpPr>
          <p:cNvPr id="21" name="line-156"/>
          <p:cNvSpPr/>
          <p:nvPr/>
        </p:nvSpPr>
        <p:spPr>
          <a:xfrm>
            <a:off x="6324600" y="4343400"/>
            <a:ext cx="51562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-157"/>
          <p:cNvSpPr txBox="1"/>
          <p:nvPr/>
        </p:nvSpPr>
        <p:spPr>
          <a:xfrm>
            <a:off x="6324600" y="4445000"/>
            <a:ext cx="5156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城下町マルシェ店内・商品：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株式会社ウララコミュニケーションズ（PR TIMES）</a:t>
            </a:r>
            <a:endParaRPr lang="en-US" sz="1300" dirty="0"/>
          </a:p>
        </p:txBody>
      </p:sp>
      <p:sp>
        <p:nvSpPr>
          <p:cNvPr id="23" name="line-158"/>
          <p:cNvSpPr/>
          <p:nvPr/>
        </p:nvSpPr>
        <p:spPr>
          <a:xfrm>
            <a:off x="6324600" y="5105400"/>
            <a:ext cx="51562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6600" y="6451600"/>
            <a:ext cx="1016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uoka Navy">
  <a:themeElements>
    <a:clrScheme name="Maruoka Navy">
      <a:dk1>
        <a:srgbClr val="0F172A"/>
      </a:dk1>
      <a:lt1>
        <a:srgbClr val="FFFFFF"/>
      </a:lt1>
      <a:dk2>
        <a:srgbClr val="324C9E"/>
      </a:dk2>
      <a:lt2>
        <a:srgbClr val="F6F8FD"/>
      </a:lt2>
      <a:accent1>
        <a:srgbClr val="3D5DC6"/>
      </a:accent1>
      <a:accent2>
        <a:srgbClr val="2E47A6"/>
      </a:accent2>
      <a:accent3>
        <a:srgbClr val="EEF2FB"/>
      </a:accent3>
      <a:accent4>
        <a:srgbClr val="64748B"/>
      </a:accent4>
      <a:accent5>
        <a:srgbClr val="7C8BA1"/>
      </a:accent5>
      <a:accent6>
        <a:srgbClr val="E2E8F0"/>
      </a:accent6>
      <a:hlink>
        <a:srgbClr val="2E47A6"/>
      </a:hlink>
      <a:folHlink>
        <a:srgbClr val="64748B"/>
      </a:folHlink>
    </a:clrScheme>
    <a:fontScheme name="Maruoka Navy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坂井市ゆかりの2店舗のご紹介</dc:title>
  <dc:subject>PptxGenJS Presentation</dc:subject>
  <dc:creator>PptxGenJS</dc:creator>
  <cp:lastModifiedBy>PptxGenJS</cp:lastModifiedBy>
  <cp:revision>1</cp:revision>
  <dcterms:created xsi:type="dcterms:W3CDTF">2026-10-27T04:06:06Z</dcterms:created>
  <dcterms:modified xsi:type="dcterms:W3CDTF">2026-10-27T04:06:06Z</dcterms:modified>
</cp:coreProperties>
</file>